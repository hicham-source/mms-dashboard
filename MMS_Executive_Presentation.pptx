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 lIns="731520"/>
          <a:lstStyle/>
          <a:p>
            <a:pPr algn="ctr">
              <a:defRPr sz="3200" b="1">
                <a:solidFill>
                  <a:srgbClr val="F8FAFC"/>
                </a:solidFill>
              </a:defRPr>
            </a:pPr>
            <a:r>
              <a:t>MMS EXECUTIVE COMMERCIAL &amp; SOH REPORT</a:t>
            </a:r>
          </a:p>
          <a:p>
            <a:pPr>
              <a:spcBef>
                <a:spcPts val="1200"/>
              </a:spcBef>
              <a:defRPr sz="1500">
                <a:solidFill>
                  <a:srgbClr val="38BDF8"/>
                </a:solidFill>
              </a:defRPr>
            </a:pPr>
            <a:r>
              <a:t>Monthly Performance, Regional Hierarchy &amp; Predictive Supply Chain Intelligence</a:t>
            </a:r>
          </a:p>
          <a:p>
            <a:pPr>
              <a:spcBef>
                <a:spcPts val="3500"/>
              </a:spcBef>
              <a:defRPr sz="1200">
                <a:solidFill>
                  <a:srgbClr val="94A3B8"/>
                </a:solidFill>
              </a:defRPr>
            </a:pPr>
            <a:r>
              <a:t>Period: September 2026 | Prepared for: Executive Management (Mumuso KSA)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Executive Summary &amp; Network KPIs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  <a:latin typeface="Arial"/>
              </a:defRPr>
            </a:pPr>
            <a:r>
              <a:t>High-level commercial performance and network-wide achievement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560320" cy="1371600"/>
          </a:xfrm>
          <a:prstGeom prst="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CURRENT TOTAL SALES</a:t>
            </a:r>
          </a:p>
          <a:p>
            <a:pPr>
              <a:spcBef>
                <a:spcPts val="800"/>
              </a:spcBef>
              <a:defRPr sz="2000" b="1">
                <a:solidFill>
                  <a:srgbClr val="38BDF8"/>
                </a:solidFill>
              </a:defRPr>
            </a:pPr>
            <a:r>
              <a:t>2,699,744 SAR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0" y="1645920"/>
            <a:ext cx="2560320" cy="1371600"/>
          </a:xfrm>
          <a:prstGeom prst="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TOTAL UNITS SOLD</a:t>
            </a:r>
          </a:p>
          <a:p>
            <a:pPr>
              <a:spcBef>
                <a:spcPts val="800"/>
              </a:spcBef>
              <a:defRPr sz="2000" b="1">
                <a:solidFill>
                  <a:srgbClr val="F8FAFC"/>
                </a:solidFill>
              </a:defRPr>
            </a:pPr>
            <a:r>
              <a:t>138,476 Pcs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645920"/>
            <a:ext cx="2560320" cy="1371600"/>
          </a:xfrm>
          <a:prstGeom prst="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NETWORK LFL GROWTH</a:t>
            </a:r>
          </a:p>
          <a:p>
            <a:pPr>
              <a:spcBef>
                <a:spcPts val="800"/>
              </a:spcBef>
              <a:defRPr sz="2000" b="1">
                <a:solidFill>
                  <a:srgbClr val="10B981"/>
                </a:solidFill>
              </a:defRPr>
            </a:pPr>
            <a:r>
              <a:t>+17.0%</a:t>
            </a:r>
          </a:p>
        </p:txBody>
      </p:sp>
      <p:sp>
        <p:nvSpPr>
          <p:cNvPr id="6" name="Rectangle 5"/>
          <p:cNvSpPr/>
          <p:nvPr/>
        </p:nvSpPr>
        <p:spPr>
          <a:xfrm>
            <a:off x="8823960" y="1645920"/>
            <a:ext cx="2560320" cy="1371600"/>
          </a:xfrm>
          <a:prstGeom prst="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OVERALL ACHIEVEMENT</a:t>
            </a:r>
          </a:p>
          <a:p>
            <a:pPr>
              <a:spcBef>
                <a:spcPts val="800"/>
              </a:spcBef>
              <a:defRPr sz="2000" b="1">
                <a:solidFill>
                  <a:srgbClr val="F59E0B"/>
                </a:solidFill>
              </a:defRPr>
            </a:pPr>
            <a:r>
              <a:t>78.0%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91840"/>
            <a:ext cx="10698480" cy="2926080"/>
          </a:xfrm>
          <a:prstGeom prst="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🤖 AI Merchandising Directives (Powered by Claude)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● Critical Issue: Central warehouse holds over 450,000 units while understock stores face OOS risks; immediate redistribution is required.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● Attention Required: Flagship branches maintain solid display capacity, but slow-moving sub-subgroups must be rotated out before month-end.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● Opportunity: Scale high-velocity children's toys and beauty categories across underperforming Western Region branches to beat LY benchmarks.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Regional Leadership &amp; Area Manager Overview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  <a:latin typeface="Arial"/>
              </a:defRPr>
            </a:pPr>
            <a:r>
              <a:t>Comparative performance between Riyadh Central Region and Western Region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5212080" cy="4114800"/>
          </a:xfrm>
          <a:prstGeom prst="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457200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Riyadh Central Region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Area Manager: Sultan</a:t>
            </a:r>
          </a:p>
          <a:p>
            <a:pPr>
              <a:spcBef>
                <a:spcPts val="1400"/>
              </a:spcBef>
              <a:defRPr sz="1400" b="1">
                <a:solidFill>
                  <a:srgbClr val="F8FAFC"/>
                </a:solidFill>
              </a:defRPr>
            </a:pPr>
            <a:r>
              <a:t>Current Sales: 1,850,420 SAR</a:t>
            </a:r>
          </a:p>
          <a:p>
            <a:pPr>
              <a:spcBef>
                <a:spcPts val="1400"/>
              </a:spcBef>
              <a:defRPr sz="1400" b="1">
                <a:solidFill>
                  <a:srgbClr val="F8FAFC"/>
                </a:solidFill>
              </a:defRPr>
            </a:pPr>
            <a:r>
              <a:t>Achievement: 84.9% Ach</a:t>
            </a:r>
          </a:p>
          <a:p>
            <a:pPr>
              <a:spcBef>
                <a:spcPts val="1400"/>
              </a:spcBef>
              <a:defRPr sz="1400" b="1">
                <a:solidFill>
                  <a:srgbClr val="F8FAFC"/>
                </a:solidFill>
              </a:defRPr>
            </a:pPr>
            <a:r>
              <a:t>YoY Growth: +28.8% YoY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457200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Western Region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Area Manager: Rajib</a:t>
            </a:r>
          </a:p>
          <a:p>
            <a:pPr>
              <a:spcBef>
                <a:spcPts val="1400"/>
              </a:spcBef>
              <a:defRPr sz="1400" b="1">
                <a:solidFill>
                  <a:srgbClr val="F8FAFC"/>
                </a:solidFill>
              </a:defRPr>
            </a:pPr>
            <a:r>
              <a:t>Current Sales: 849,324 SAR</a:t>
            </a:r>
          </a:p>
          <a:p>
            <a:pPr>
              <a:spcBef>
                <a:spcPts val="1400"/>
              </a:spcBef>
              <a:defRPr sz="1400" b="1">
                <a:solidFill>
                  <a:srgbClr val="F8FAFC"/>
                </a:solidFill>
              </a:defRPr>
            </a:pPr>
            <a:r>
              <a:t>Achievement: 74.2% Ach</a:t>
            </a:r>
          </a:p>
          <a:p>
            <a:pPr>
              <a:spcBef>
                <a:spcPts val="1400"/>
              </a:spcBef>
              <a:defRPr sz="1400" b="1">
                <a:solidFill>
                  <a:srgbClr val="F8FAFC"/>
                </a:solidFill>
              </a:defRPr>
            </a:pPr>
            <a:r>
              <a:t>YoY Growth: -4.5% YoY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Business-Wise Performance &amp; Stock Health Ratio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  <a:latin typeface="Arial"/>
              </a:defRPr>
            </a:pPr>
            <a:r>
              <a:t>Category contribution mix and inventory health across the network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1005840"/>
          </a:xfrm>
          <a:prstGeom prst="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🏷️ Beauty &amp; Cleaning   |   Sales: 906,524 SAR   |   Share: 33.6%   |   Stock Health: Healthy (6.2 Wks)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88920"/>
            <a:ext cx="10698480" cy="1005840"/>
          </a:xfrm>
          <a:prstGeom prst="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🏷️ Children's Goods   |   Sales: 893,928 SAR   |   Share: 33.1%   |   Stock Health: OOS Risk (3.1 Wks)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931920"/>
            <a:ext cx="10698480" cy="1005840"/>
          </a:xfrm>
          <a:prstGeom prst="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🏷️ Home &amp; Daily Use   |   Sales: 235,673 SAR   |   Share: 8.7%   |   Stock Health: Healthy (5.4 Wks)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74920"/>
            <a:ext cx="10698480" cy="1005840"/>
          </a:xfrm>
          <a:prstGeom prst="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🏷️ 3C Electronics   |   Sales: 226,983 SAR   |   Share: 8.4%   |   Stock Health: Overstocked (12.1 Wks)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Commercial Action Hub &amp; KSWH Replenishment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  <a:latin typeface="Arial"/>
              </a:defRPr>
            </a:pPr>
            <a:r>
              <a:t>Automated stock routing from Central Warehouse (KSWH) and Store Transfers (IST)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1280160"/>
          </a:xfrm>
          <a:prstGeom prst="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⚡ [WH Replenishment]  ➔  Destination: MMS Riyadh Solitaire (K108)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Category Focus: Children's Goods &amp; Toys   |   Source: Central Warehouse (KSWH)   |   Suggested Qty: 2,500 Pcs   |   Urgency: High Priority (3.8 Wks Cover)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154680"/>
            <a:ext cx="10698480" cy="1280160"/>
          </a:xfrm>
          <a:prstGeom prst="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⚡ [WH Replenishment]  ➔  Destination: MMS Mall of Dhahran (K301)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Category Focus: Beauty &amp; Cleaning   |   Source: Central Warehouse (KSWH)   |   Suggested Qty: 1,800 Pcs   |   Urgency: High Priority (3.2 Wks Cover)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663440"/>
            <a:ext cx="10698480" cy="1280160"/>
          </a:xfrm>
          <a:prstGeom prst="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⚡ [Store Transfer (IST)]  ➔  Destination: MMS Jeddah Park (K201)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Category Focus: Fashion Accessories   |   Source: MMS Riyadh The View (K101)   |   Suggested Qty: 1,200 Pcs   |   Urgency: Store Transfer (WH Stock Empty)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Top/Low 500 SKUs &amp; Strategic Next Steps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  <a:latin typeface="Arial"/>
              </a:defRPr>
            </a:pPr>
            <a:r>
              <a:t>Key SKU velocity, warehouse stock availability, and forward action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45720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🎯 Strategic Execution Priorities for Next Week: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1. Execute immediate WH Replenishment orders for all stores flagged with OOS Risk (WOC &lt; 4 weeks).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2. Review Top 500 High-Velocity items and ensure 100% shelf availability across regional flagships.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3. Initiate clearance bundles or markdown strategies for Low 500 dead stock to free up working capital.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4. Enforce weekly Category Assortment Swaps in underperforming stores to align with high-demand lifestyle clusters.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